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Black Mango Bold" charset="1" panose="02020A03060303060403"/>
      <p:regular r:id="rId13"/>
    </p:embeddedFont>
    <p:embeddedFont>
      <p:font typeface="Open Sans" charset="1" panose="020B0606030504020204"/>
      <p:regular r:id="rId14"/>
    </p:embeddedFont>
    <p:embeddedFont>
      <p:font typeface="Open Sans Bold" charset="1" panose="020B0806030504020204"/>
      <p:regular r:id="rId15"/>
    </p:embeddedFont>
    <p:embeddedFont>
      <p:font typeface="Canva Sans" charset="1" panose="020B05030305010401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721210">
            <a:off x="-2119311" y="-1380488"/>
            <a:ext cx="5931528" cy="8155851"/>
          </a:xfrm>
          <a:custGeom>
            <a:avLst/>
            <a:gdLst/>
            <a:ahLst/>
            <a:cxnLst/>
            <a:rect r="r" b="b" t="t" l="l"/>
            <a:pathLst>
              <a:path h="8155851" w="5931528">
                <a:moveTo>
                  <a:pt x="0" y="0"/>
                </a:moveTo>
                <a:lnTo>
                  <a:pt x="5931528" y="0"/>
                </a:lnTo>
                <a:lnTo>
                  <a:pt x="5931528" y="8155851"/>
                </a:lnTo>
                <a:lnTo>
                  <a:pt x="0" y="8155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72374" y="3832549"/>
            <a:ext cx="9312135" cy="6823255"/>
          </a:xfrm>
          <a:custGeom>
            <a:avLst/>
            <a:gdLst/>
            <a:ahLst/>
            <a:cxnLst/>
            <a:rect r="r" b="b" t="t" l="l"/>
            <a:pathLst>
              <a:path h="6823255" w="9312135">
                <a:moveTo>
                  <a:pt x="0" y="0"/>
                </a:moveTo>
                <a:lnTo>
                  <a:pt x="9312135" y="0"/>
                </a:lnTo>
                <a:lnTo>
                  <a:pt x="9312135" y="6823255"/>
                </a:lnTo>
                <a:lnTo>
                  <a:pt x="0" y="68232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06333" y="2059721"/>
            <a:ext cx="11342489" cy="4132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64"/>
              </a:lnSpc>
            </a:pPr>
            <a:r>
              <a:rPr lang="en-US" sz="8145" b="true">
                <a:solidFill>
                  <a:srgbClr val="384700"/>
                </a:solidFill>
                <a:latin typeface="Black Mango Bold"/>
                <a:ea typeface="Black Mango Bold"/>
                <a:cs typeface="Black Mango Bold"/>
                <a:sym typeface="Black Mango Bold"/>
              </a:rPr>
              <a:t>GreenCycle</a:t>
            </a:r>
          </a:p>
          <a:p>
            <a:pPr algn="ctr">
              <a:lnSpc>
                <a:spcPts val="8064"/>
              </a:lnSpc>
            </a:pPr>
            <a:r>
              <a:rPr lang="en-US" sz="8145" b="true">
                <a:solidFill>
                  <a:srgbClr val="384700"/>
                </a:solidFill>
                <a:latin typeface="Black Mango Bold"/>
                <a:ea typeface="Black Mango Bold"/>
                <a:cs typeface="Black Mango Bold"/>
                <a:sym typeface="Black Mango Bold"/>
              </a:rPr>
              <a:t>Commu</a:t>
            </a:r>
            <a:r>
              <a:rPr lang="en-US" b="true" sz="8145">
                <a:solidFill>
                  <a:srgbClr val="384700"/>
                </a:solidFill>
                <a:latin typeface="Black Mango Bold"/>
                <a:ea typeface="Black Mango Bold"/>
                <a:cs typeface="Black Mango Bold"/>
                <a:sym typeface="Black Mango Bold"/>
              </a:rPr>
              <a:t>nity Waste Collection &amp; Recycling Scheduler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9765837" y="-893225"/>
            <a:ext cx="9312135" cy="6823255"/>
          </a:xfrm>
          <a:custGeom>
            <a:avLst/>
            <a:gdLst/>
            <a:ahLst/>
            <a:cxnLst/>
            <a:rect r="r" b="b" t="t" l="l"/>
            <a:pathLst>
              <a:path h="6823255" w="9312135">
                <a:moveTo>
                  <a:pt x="9312134" y="6823255"/>
                </a:moveTo>
                <a:lnTo>
                  <a:pt x="0" y="6823255"/>
                </a:lnTo>
                <a:lnTo>
                  <a:pt x="0" y="0"/>
                </a:lnTo>
                <a:lnTo>
                  <a:pt x="9312134" y="0"/>
                </a:lnTo>
                <a:lnTo>
                  <a:pt x="9312134" y="682325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00000">
            <a:off x="14891785" y="4078195"/>
            <a:ext cx="5844040" cy="8035555"/>
          </a:xfrm>
          <a:custGeom>
            <a:avLst/>
            <a:gdLst/>
            <a:ahLst/>
            <a:cxnLst/>
            <a:rect r="r" b="b" t="t" l="l"/>
            <a:pathLst>
              <a:path h="8035555" w="5844040">
                <a:moveTo>
                  <a:pt x="0" y="0"/>
                </a:moveTo>
                <a:lnTo>
                  <a:pt x="5844040" y="0"/>
                </a:lnTo>
                <a:lnTo>
                  <a:pt x="5844040" y="8035555"/>
                </a:lnTo>
                <a:lnTo>
                  <a:pt x="0" y="80355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325710" y="6502247"/>
            <a:ext cx="9636581" cy="75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7"/>
              </a:lnSpc>
            </a:pPr>
            <a:r>
              <a:rPr lang="en-US" sz="4498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Presented by Nishi Chopda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721210">
            <a:off x="-2520862" y="-854002"/>
            <a:ext cx="4602723" cy="6328745"/>
          </a:xfrm>
          <a:custGeom>
            <a:avLst/>
            <a:gdLst/>
            <a:ahLst/>
            <a:cxnLst/>
            <a:rect r="r" b="b" t="t" l="l"/>
            <a:pathLst>
              <a:path h="6328745" w="4602723">
                <a:moveTo>
                  <a:pt x="0" y="0"/>
                </a:moveTo>
                <a:lnTo>
                  <a:pt x="4602724" y="0"/>
                </a:lnTo>
                <a:lnTo>
                  <a:pt x="4602724" y="6328745"/>
                </a:lnTo>
                <a:lnTo>
                  <a:pt x="0" y="6328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72374" y="5492461"/>
            <a:ext cx="7046746" cy="5163343"/>
          </a:xfrm>
          <a:custGeom>
            <a:avLst/>
            <a:gdLst/>
            <a:ahLst/>
            <a:cxnLst/>
            <a:rect r="r" b="b" t="t" l="l"/>
            <a:pathLst>
              <a:path h="5163343" w="7046746">
                <a:moveTo>
                  <a:pt x="0" y="0"/>
                </a:moveTo>
                <a:lnTo>
                  <a:pt x="7046747" y="0"/>
                </a:lnTo>
                <a:lnTo>
                  <a:pt x="7046747" y="5163343"/>
                </a:lnTo>
                <a:lnTo>
                  <a:pt x="0" y="5163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30102" y="1206102"/>
            <a:ext cx="11985143" cy="92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399" b="true">
                <a:solidFill>
                  <a:srgbClr val="384700"/>
                </a:solidFill>
                <a:latin typeface="Black Mango Bold"/>
                <a:ea typeface="Black Mango Bold"/>
                <a:cs typeface="Black Mango Bold"/>
                <a:sym typeface="Black Mango Bold"/>
              </a:rPr>
              <a:t>P</a:t>
            </a:r>
            <a:r>
              <a:rPr lang="en-US" b="true" sz="5399">
                <a:solidFill>
                  <a:srgbClr val="384700"/>
                </a:solidFill>
                <a:latin typeface="Black Mango Bold"/>
                <a:ea typeface="Black Mango Bold"/>
                <a:cs typeface="Black Mango Bold"/>
                <a:sym typeface="Black Mango Bold"/>
              </a:rPr>
              <a:t>roblem Statement + Objectives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70069" y="3073365"/>
            <a:ext cx="6808607" cy="5314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3"/>
              </a:lnSpc>
            </a:pPr>
            <a:r>
              <a:rPr lang="en-US" sz="3017" b="true">
                <a:solidFill>
                  <a:srgbClr val="3847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 Statement</a:t>
            </a:r>
          </a:p>
          <a:p>
            <a:pPr algn="just" marL="651382" indent="-325691" lvl="1">
              <a:lnSpc>
                <a:spcPts val="4223"/>
              </a:lnSpc>
              <a:buFont typeface="Arial"/>
              <a:buChar char="•"/>
            </a:pPr>
            <a:r>
              <a:rPr lang="en-US" sz="3017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GreenCycle manages household waste collection and recycling schedules.</a:t>
            </a:r>
          </a:p>
          <a:p>
            <a:pPr algn="just" marL="651382" indent="-325691" lvl="1">
              <a:lnSpc>
                <a:spcPts val="4223"/>
              </a:lnSpc>
              <a:buFont typeface="Arial"/>
              <a:buChar char="•"/>
            </a:pPr>
            <a:r>
              <a:rPr lang="en-US" sz="3017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The database stores households, routes, vehicles, waste types and collection schedules.</a:t>
            </a:r>
          </a:p>
          <a:p>
            <a:pPr algn="just" marL="651382" indent="-325691" lvl="1">
              <a:lnSpc>
                <a:spcPts val="4223"/>
              </a:lnSpc>
              <a:buFont typeface="Arial"/>
              <a:buChar char="•"/>
            </a:pPr>
            <a:r>
              <a:rPr lang="en-US" sz="3017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The system automatically generates the next collection after a completed collection.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1915984">
            <a:off x="16140697" y="4909760"/>
            <a:ext cx="4602723" cy="6328745"/>
          </a:xfrm>
          <a:custGeom>
            <a:avLst/>
            <a:gdLst/>
            <a:ahLst/>
            <a:cxnLst/>
            <a:rect r="r" b="b" t="t" l="l"/>
            <a:pathLst>
              <a:path h="6328745" w="4602723">
                <a:moveTo>
                  <a:pt x="0" y="0"/>
                </a:moveTo>
                <a:lnTo>
                  <a:pt x="4602724" y="0"/>
                </a:lnTo>
                <a:lnTo>
                  <a:pt x="4602724" y="6328745"/>
                </a:lnTo>
                <a:lnTo>
                  <a:pt x="0" y="6328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1395313" y="-991963"/>
            <a:ext cx="7046746" cy="5163343"/>
          </a:xfrm>
          <a:custGeom>
            <a:avLst/>
            <a:gdLst/>
            <a:ahLst/>
            <a:cxnLst/>
            <a:rect r="r" b="b" t="t" l="l"/>
            <a:pathLst>
              <a:path h="5163343" w="7046746">
                <a:moveTo>
                  <a:pt x="7046746" y="5163343"/>
                </a:moveTo>
                <a:lnTo>
                  <a:pt x="0" y="5163343"/>
                </a:lnTo>
                <a:lnTo>
                  <a:pt x="0" y="0"/>
                </a:lnTo>
                <a:lnTo>
                  <a:pt x="7046746" y="0"/>
                </a:lnTo>
                <a:lnTo>
                  <a:pt x="7046746" y="51633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144000" y="3073365"/>
            <a:ext cx="7074569" cy="4781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8"/>
              </a:lnSpc>
            </a:pPr>
            <a:r>
              <a:rPr lang="en-US" b="true" sz="3020">
                <a:solidFill>
                  <a:srgbClr val="3847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Objectives</a:t>
            </a:r>
          </a:p>
          <a:p>
            <a:pPr algn="l" marL="652019" indent="-326009" lvl="1">
              <a:lnSpc>
                <a:spcPts val="4228"/>
              </a:lnSpc>
              <a:buFont typeface="Arial"/>
              <a:buChar char="•"/>
            </a:pPr>
            <a:r>
              <a:rPr lang="en-US" sz="3020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Design an ER model</a:t>
            </a:r>
          </a:p>
          <a:p>
            <a:pPr algn="l" marL="652019" indent="-326009" lvl="1">
              <a:lnSpc>
                <a:spcPts val="4228"/>
              </a:lnSpc>
              <a:buFont typeface="Arial"/>
              <a:buChar char="•"/>
            </a:pPr>
            <a:r>
              <a:rPr lang="en-US" sz="3020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Create a normalized relational schema</a:t>
            </a:r>
          </a:p>
          <a:p>
            <a:pPr algn="l" marL="652019" indent="-326009" lvl="1">
              <a:lnSpc>
                <a:spcPts val="4228"/>
              </a:lnSpc>
              <a:buFont typeface="Arial"/>
              <a:buChar char="•"/>
            </a:pPr>
            <a:r>
              <a:rPr lang="en-US" sz="3020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Maintain PK/FK relationships</a:t>
            </a:r>
          </a:p>
          <a:p>
            <a:pPr algn="l" marL="652019" indent="-326009" lvl="1">
              <a:lnSpc>
                <a:spcPts val="4228"/>
              </a:lnSpc>
              <a:buFont typeface="Arial"/>
              <a:buChar char="•"/>
            </a:pPr>
            <a:r>
              <a:rPr lang="en-US" sz="3020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Perform SQL queries for collection analysis</a:t>
            </a:r>
          </a:p>
          <a:p>
            <a:pPr algn="l" marL="652019" indent="-326009" lvl="1">
              <a:lnSpc>
                <a:spcPts val="4228"/>
              </a:lnSpc>
              <a:buFont typeface="Arial"/>
              <a:buChar char="•"/>
            </a:pPr>
            <a:r>
              <a:rPr lang="en-US" sz="3020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Automatically generate the next collection using a trigger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721210">
            <a:off x="-2520862" y="-854002"/>
            <a:ext cx="4602723" cy="6328745"/>
          </a:xfrm>
          <a:custGeom>
            <a:avLst/>
            <a:gdLst/>
            <a:ahLst/>
            <a:cxnLst/>
            <a:rect r="r" b="b" t="t" l="l"/>
            <a:pathLst>
              <a:path h="6328745" w="4602723">
                <a:moveTo>
                  <a:pt x="0" y="0"/>
                </a:moveTo>
                <a:lnTo>
                  <a:pt x="4602724" y="0"/>
                </a:lnTo>
                <a:lnTo>
                  <a:pt x="4602724" y="6328745"/>
                </a:lnTo>
                <a:lnTo>
                  <a:pt x="0" y="6328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72374" y="5492461"/>
            <a:ext cx="7046746" cy="5163343"/>
          </a:xfrm>
          <a:custGeom>
            <a:avLst/>
            <a:gdLst/>
            <a:ahLst/>
            <a:cxnLst/>
            <a:rect r="r" b="b" t="t" l="l"/>
            <a:pathLst>
              <a:path h="5163343" w="7046746">
                <a:moveTo>
                  <a:pt x="0" y="0"/>
                </a:moveTo>
                <a:lnTo>
                  <a:pt x="7046747" y="0"/>
                </a:lnTo>
                <a:lnTo>
                  <a:pt x="7046747" y="5163343"/>
                </a:lnTo>
                <a:lnTo>
                  <a:pt x="0" y="5163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97210" y="818425"/>
            <a:ext cx="9340872" cy="1307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9"/>
              </a:lnSpc>
            </a:pPr>
            <a:r>
              <a:rPr lang="en-US" sz="7599" b="true">
                <a:solidFill>
                  <a:srgbClr val="384700"/>
                </a:solidFill>
                <a:latin typeface="Black Mango Bold"/>
                <a:ea typeface="Black Mango Bold"/>
                <a:cs typeface="Black Mango Bold"/>
                <a:sym typeface="Black Mango Bold"/>
              </a:rPr>
              <a:t>Da</a:t>
            </a:r>
            <a:r>
              <a:rPr lang="en-US" b="true" sz="7599">
                <a:solidFill>
                  <a:srgbClr val="384700"/>
                </a:solidFill>
                <a:latin typeface="Black Mango Bold"/>
                <a:ea typeface="Black Mango Bold"/>
                <a:cs typeface="Black Mango Bold"/>
                <a:sym typeface="Black Mango Bold"/>
              </a:rPr>
              <a:t>tabase Design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1915984">
            <a:off x="16140697" y="4909760"/>
            <a:ext cx="4602723" cy="6328745"/>
          </a:xfrm>
          <a:custGeom>
            <a:avLst/>
            <a:gdLst/>
            <a:ahLst/>
            <a:cxnLst/>
            <a:rect r="r" b="b" t="t" l="l"/>
            <a:pathLst>
              <a:path h="6328745" w="4602723">
                <a:moveTo>
                  <a:pt x="0" y="0"/>
                </a:moveTo>
                <a:lnTo>
                  <a:pt x="4602724" y="0"/>
                </a:lnTo>
                <a:lnTo>
                  <a:pt x="4602724" y="6328745"/>
                </a:lnTo>
                <a:lnTo>
                  <a:pt x="0" y="6328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1395313" y="-991963"/>
            <a:ext cx="7046746" cy="5163343"/>
          </a:xfrm>
          <a:custGeom>
            <a:avLst/>
            <a:gdLst/>
            <a:ahLst/>
            <a:cxnLst/>
            <a:rect r="r" b="b" t="t" l="l"/>
            <a:pathLst>
              <a:path h="5163343" w="7046746">
                <a:moveTo>
                  <a:pt x="7046746" y="5163343"/>
                </a:moveTo>
                <a:lnTo>
                  <a:pt x="0" y="5163343"/>
                </a:lnTo>
                <a:lnTo>
                  <a:pt x="0" y="0"/>
                </a:lnTo>
                <a:lnTo>
                  <a:pt x="7046746" y="0"/>
                </a:lnTo>
                <a:lnTo>
                  <a:pt x="7046746" y="51633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638727" y="9579574"/>
            <a:ext cx="12257837" cy="448621"/>
            <a:chOff x="0" y="0"/>
            <a:chExt cx="3228402" cy="1181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28402" cy="118155"/>
            </a:xfrm>
            <a:custGeom>
              <a:avLst/>
              <a:gdLst/>
              <a:ahLst/>
              <a:cxnLst/>
              <a:rect r="r" b="b" t="t" l="l"/>
              <a:pathLst>
                <a:path h="118155" w="3228402">
                  <a:moveTo>
                    <a:pt x="0" y="0"/>
                  </a:moveTo>
                  <a:lnTo>
                    <a:pt x="3228402" y="0"/>
                  </a:lnTo>
                  <a:lnTo>
                    <a:pt x="3228402" y="118155"/>
                  </a:lnTo>
                  <a:lnTo>
                    <a:pt x="0" y="118155"/>
                  </a:lnTo>
                  <a:close/>
                </a:path>
              </a:pathLst>
            </a:custGeom>
            <a:solidFill>
              <a:srgbClr val="70794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228402" cy="1562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Design: Normalized relational schema with primary and foreign keys to maintain data integrity.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757028" y="3130606"/>
            <a:ext cx="7945681" cy="6182733"/>
          </a:xfrm>
          <a:custGeom>
            <a:avLst/>
            <a:gdLst/>
            <a:ahLst/>
            <a:cxnLst/>
            <a:rect r="r" b="b" t="t" l="l"/>
            <a:pathLst>
              <a:path h="6182733" w="7945681">
                <a:moveTo>
                  <a:pt x="0" y="0"/>
                </a:moveTo>
                <a:lnTo>
                  <a:pt x="7945681" y="0"/>
                </a:lnTo>
                <a:lnTo>
                  <a:pt x="7945681" y="6182733"/>
                </a:lnTo>
                <a:lnTo>
                  <a:pt x="0" y="61827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26803" y="2876983"/>
            <a:ext cx="7417481" cy="6381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3"/>
              </a:lnSpc>
            </a:pPr>
            <a:r>
              <a:rPr lang="en-US" sz="3017" b="true">
                <a:solidFill>
                  <a:srgbClr val="3847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Tables &amp; Keys</a:t>
            </a:r>
          </a:p>
          <a:p>
            <a:pPr algn="just">
              <a:lnSpc>
                <a:spcPts val="4223"/>
              </a:lnSpc>
            </a:pPr>
          </a:p>
          <a:p>
            <a:pPr algn="just">
              <a:lnSpc>
                <a:spcPts val="4223"/>
              </a:lnSpc>
            </a:pPr>
            <a:r>
              <a:rPr lang="en-US" sz="3017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Entities / Tables</a:t>
            </a:r>
          </a:p>
          <a:p>
            <a:pPr algn="just" marL="651382" indent="-325691" lvl="1">
              <a:lnSpc>
                <a:spcPts val="4223"/>
              </a:lnSpc>
              <a:buFont typeface="Arial"/>
              <a:buChar char="•"/>
            </a:pPr>
            <a:r>
              <a:rPr lang="en-US" sz="3017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Vehicle — VehicleID (PK)</a:t>
            </a:r>
          </a:p>
          <a:p>
            <a:pPr algn="just" marL="651382" indent="-325691" lvl="1">
              <a:lnSpc>
                <a:spcPts val="4223"/>
              </a:lnSpc>
              <a:buFont typeface="Arial"/>
              <a:buChar char="•"/>
            </a:pPr>
            <a:r>
              <a:rPr lang="en-US" sz="3017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Route — RouteID (PK), VehicleID (FK)</a:t>
            </a:r>
          </a:p>
          <a:p>
            <a:pPr algn="just" marL="651382" indent="-325691" lvl="1">
              <a:lnSpc>
                <a:spcPts val="4223"/>
              </a:lnSpc>
              <a:buFont typeface="Arial"/>
              <a:buChar char="•"/>
            </a:pPr>
            <a:r>
              <a:rPr lang="en-US" sz="3017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Household — HouseholdID (PK), RouteID (FK)</a:t>
            </a:r>
          </a:p>
          <a:p>
            <a:pPr algn="just" marL="651382" indent="-325691" lvl="1">
              <a:lnSpc>
                <a:spcPts val="4223"/>
              </a:lnSpc>
              <a:buFont typeface="Arial"/>
              <a:buChar char="•"/>
            </a:pPr>
            <a:r>
              <a:rPr lang="en-US" sz="3017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WasteType — WasteTypeID (PK)</a:t>
            </a:r>
          </a:p>
          <a:p>
            <a:pPr algn="just" marL="651382" indent="-325691" lvl="1">
              <a:lnSpc>
                <a:spcPts val="4223"/>
              </a:lnSpc>
              <a:buFont typeface="Arial"/>
              <a:buChar char="•"/>
            </a:pPr>
            <a:r>
              <a:rPr lang="en-US" sz="3017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CollectionSchedule — ScheduleID (PK), HouseholdID (FK), RouteID (FK), WasteTypeID (FK)</a:t>
            </a:r>
          </a:p>
          <a:p>
            <a:pPr algn="just">
              <a:lnSpc>
                <a:spcPts val="4223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2007350" y="2475945"/>
            <a:ext cx="3445037" cy="51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8"/>
              </a:lnSpc>
              <a:spcBef>
                <a:spcPct val="0"/>
              </a:spcBef>
            </a:pPr>
            <a:r>
              <a:rPr lang="en-US" b="true" sz="3020">
                <a:solidFill>
                  <a:srgbClr val="3847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ER Diagram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721210">
            <a:off x="-2520862" y="-854002"/>
            <a:ext cx="4602723" cy="6328745"/>
          </a:xfrm>
          <a:custGeom>
            <a:avLst/>
            <a:gdLst/>
            <a:ahLst/>
            <a:cxnLst/>
            <a:rect r="r" b="b" t="t" l="l"/>
            <a:pathLst>
              <a:path h="6328745" w="4602723">
                <a:moveTo>
                  <a:pt x="0" y="0"/>
                </a:moveTo>
                <a:lnTo>
                  <a:pt x="4602724" y="0"/>
                </a:lnTo>
                <a:lnTo>
                  <a:pt x="4602724" y="6328745"/>
                </a:lnTo>
                <a:lnTo>
                  <a:pt x="0" y="6328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72374" y="5492461"/>
            <a:ext cx="7046746" cy="5163343"/>
          </a:xfrm>
          <a:custGeom>
            <a:avLst/>
            <a:gdLst/>
            <a:ahLst/>
            <a:cxnLst/>
            <a:rect r="r" b="b" t="t" l="l"/>
            <a:pathLst>
              <a:path h="5163343" w="7046746">
                <a:moveTo>
                  <a:pt x="0" y="0"/>
                </a:moveTo>
                <a:lnTo>
                  <a:pt x="7046747" y="0"/>
                </a:lnTo>
                <a:lnTo>
                  <a:pt x="7046747" y="5163343"/>
                </a:lnTo>
                <a:lnTo>
                  <a:pt x="0" y="5163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74175" y="174614"/>
            <a:ext cx="11822254" cy="854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4999" b="true">
                <a:solidFill>
                  <a:srgbClr val="384700"/>
                </a:solidFill>
                <a:latin typeface="Black Mango Bold"/>
                <a:ea typeface="Black Mango Bold"/>
                <a:cs typeface="Black Mango Bold"/>
                <a:sym typeface="Black Mango Bold"/>
              </a:rPr>
              <a:t>SQL Implementat</a:t>
            </a:r>
            <a:r>
              <a:rPr lang="en-US" b="true" sz="4999">
                <a:solidFill>
                  <a:srgbClr val="384700"/>
                </a:solidFill>
                <a:latin typeface="Black Mango Bold"/>
                <a:ea typeface="Black Mango Bold"/>
                <a:cs typeface="Black Mango Bold"/>
                <a:sym typeface="Black Mango Bold"/>
              </a:rPr>
              <a:t>ion &amp; Queries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1915984">
            <a:off x="16140697" y="4909760"/>
            <a:ext cx="4602723" cy="6328745"/>
          </a:xfrm>
          <a:custGeom>
            <a:avLst/>
            <a:gdLst/>
            <a:ahLst/>
            <a:cxnLst/>
            <a:rect r="r" b="b" t="t" l="l"/>
            <a:pathLst>
              <a:path h="6328745" w="4602723">
                <a:moveTo>
                  <a:pt x="0" y="0"/>
                </a:moveTo>
                <a:lnTo>
                  <a:pt x="4602724" y="0"/>
                </a:lnTo>
                <a:lnTo>
                  <a:pt x="4602724" y="6328745"/>
                </a:lnTo>
                <a:lnTo>
                  <a:pt x="0" y="6328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1395313" y="-991963"/>
            <a:ext cx="7046746" cy="5163343"/>
          </a:xfrm>
          <a:custGeom>
            <a:avLst/>
            <a:gdLst/>
            <a:ahLst/>
            <a:cxnLst/>
            <a:rect r="r" b="b" t="t" l="l"/>
            <a:pathLst>
              <a:path h="5163343" w="7046746">
                <a:moveTo>
                  <a:pt x="7046746" y="5163343"/>
                </a:moveTo>
                <a:lnTo>
                  <a:pt x="0" y="5163343"/>
                </a:lnTo>
                <a:lnTo>
                  <a:pt x="0" y="0"/>
                </a:lnTo>
                <a:lnTo>
                  <a:pt x="7046746" y="0"/>
                </a:lnTo>
                <a:lnTo>
                  <a:pt x="7046746" y="51633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24344" y="7380475"/>
            <a:ext cx="6860958" cy="2476806"/>
          </a:xfrm>
          <a:custGeom>
            <a:avLst/>
            <a:gdLst/>
            <a:ahLst/>
            <a:cxnLst/>
            <a:rect r="r" b="b" t="t" l="l"/>
            <a:pathLst>
              <a:path h="2476806" w="6860958">
                <a:moveTo>
                  <a:pt x="0" y="0"/>
                </a:moveTo>
                <a:lnTo>
                  <a:pt x="6860959" y="0"/>
                </a:lnTo>
                <a:lnTo>
                  <a:pt x="6860959" y="2476806"/>
                </a:lnTo>
                <a:lnTo>
                  <a:pt x="0" y="24768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586" r="-8732" b="-25084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327326" y="7039401"/>
            <a:ext cx="6051476" cy="3029918"/>
          </a:xfrm>
          <a:custGeom>
            <a:avLst/>
            <a:gdLst/>
            <a:ahLst/>
            <a:cxnLst/>
            <a:rect r="r" b="b" t="t" l="l"/>
            <a:pathLst>
              <a:path h="3029918" w="6051476">
                <a:moveTo>
                  <a:pt x="0" y="0"/>
                </a:moveTo>
                <a:lnTo>
                  <a:pt x="6051476" y="0"/>
                </a:lnTo>
                <a:lnTo>
                  <a:pt x="6051476" y="3029918"/>
                </a:lnTo>
                <a:lnTo>
                  <a:pt x="0" y="30299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22558" b="-2378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74175" y="1658280"/>
            <a:ext cx="5530021" cy="5847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3"/>
              </a:lnSpc>
            </a:pPr>
            <a:r>
              <a:rPr lang="en-US" sz="3017" b="true">
                <a:solidFill>
                  <a:srgbClr val="3847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SQ</a:t>
            </a:r>
            <a:r>
              <a:rPr lang="en-US" b="true" sz="3017">
                <a:solidFill>
                  <a:srgbClr val="3847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 Implementation</a:t>
            </a:r>
          </a:p>
          <a:p>
            <a:pPr algn="just">
              <a:lnSpc>
                <a:spcPts val="4223"/>
              </a:lnSpc>
            </a:pPr>
            <a:r>
              <a:rPr lang="en-US" sz="3017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DDL</a:t>
            </a:r>
          </a:p>
          <a:p>
            <a:pPr algn="just" marL="651382" indent="-325691" lvl="1">
              <a:lnSpc>
                <a:spcPts val="4223"/>
              </a:lnSpc>
              <a:buFont typeface="Arial"/>
              <a:buChar char="•"/>
            </a:pPr>
            <a:r>
              <a:rPr lang="en-US" sz="3017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CREATE TABLE</a:t>
            </a:r>
          </a:p>
          <a:p>
            <a:pPr algn="just" marL="651382" indent="-325691" lvl="1">
              <a:lnSpc>
                <a:spcPts val="4223"/>
              </a:lnSpc>
              <a:buFont typeface="Arial"/>
              <a:buChar char="•"/>
            </a:pPr>
            <a:r>
              <a:rPr lang="en-US" sz="3017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Primary &amp; Foreign Keys</a:t>
            </a:r>
          </a:p>
          <a:p>
            <a:pPr algn="just" marL="651382" indent="-325691" lvl="1">
              <a:lnSpc>
                <a:spcPts val="4223"/>
              </a:lnSpc>
              <a:buFont typeface="Arial"/>
              <a:buChar char="•"/>
            </a:pPr>
            <a:r>
              <a:rPr lang="en-US" sz="3017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NOT NULL constraints</a:t>
            </a:r>
          </a:p>
          <a:p>
            <a:pPr algn="just">
              <a:lnSpc>
                <a:spcPts val="4223"/>
              </a:lnSpc>
            </a:pPr>
            <a:r>
              <a:rPr lang="en-US" sz="3017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DML</a:t>
            </a:r>
          </a:p>
          <a:p>
            <a:pPr algn="just" marL="651382" indent="-325691" lvl="1">
              <a:lnSpc>
                <a:spcPts val="4223"/>
              </a:lnSpc>
              <a:buFont typeface="Arial"/>
              <a:buChar char="•"/>
            </a:pPr>
            <a:r>
              <a:rPr lang="en-US" sz="3017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INSERT</a:t>
            </a:r>
          </a:p>
          <a:p>
            <a:pPr algn="just" marL="651382" indent="-325691" lvl="1">
              <a:lnSpc>
                <a:spcPts val="4223"/>
              </a:lnSpc>
              <a:buFont typeface="Arial"/>
              <a:buChar char="•"/>
            </a:pPr>
            <a:r>
              <a:rPr lang="en-US" sz="3017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UPDATE</a:t>
            </a:r>
          </a:p>
          <a:p>
            <a:pPr algn="just" marL="651382" indent="-325691" lvl="1">
              <a:lnSpc>
                <a:spcPts val="4223"/>
              </a:lnSpc>
              <a:buFont typeface="Arial"/>
              <a:buChar char="•"/>
            </a:pPr>
            <a:r>
              <a:rPr lang="en-US" sz="3017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SELECT</a:t>
            </a:r>
          </a:p>
          <a:p>
            <a:pPr algn="just">
              <a:lnSpc>
                <a:spcPts val="4223"/>
              </a:lnSpc>
            </a:pPr>
            <a:r>
              <a:rPr lang="en-US" sz="3017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Database: PostgreSQL</a:t>
            </a:r>
          </a:p>
          <a:p>
            <a:pPr algn="just">
              <a:lnSpc>
                <a:spcPts val="4223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186625" y="1433961"/>
            <a:ext cx="5628619" cy="5847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3"/>
              </a:lnSpc>
            </a:pPr>
            <a:r>
              <a:rPr lang="en-US" sz="3017" b="true">
                <a:solidFill>
                  <a:srgbClr val="3847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Queries</a:t>
            </a:r>
          </a:p>
          <a:p>
            <a:pPr algn="just">
              <a:lnSpc>
                <a:spcPts val="4223"/>
              </a:lnSpc>
            </a:pPr>
            <a:r>
              <a:rPr lang="en-US" sz="3017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Missed Households</a:t>
            </a:r>
          </a:p>
          <a:p>
            <a:pPr algn="just" marL="651382" indent="-325691" lvl="1">
              <a:lnSpc>
                <a:spcPts val="4223"/>
              </a:lnSpc>
              <a:buFont typeface="Arial"/>
              <a:buChar char="•"/>
            </a:pPr>
            <a:r>
              <a:rPr lang="en-US" sz="3017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LEFT JOIN</a:t>
            </a:r>
          </a:p>
          <a:p>
            <a:pPr algn="just" marL="651382" indent="-325691" lvl="1">
              <a:lnSpc>
                <a:spcPts val="4223"/>
              </a:lnSpc>
              <a:buFont typeface="Arial"/>
              <a:buChar char="•"/>
            </a:pPr>
            <a:r>
              <a:rPr lang="en-US" sz="3017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NULL check</a:t>
            </a:r>
          </a:p>
          <a:p>
            <a:pPr algn="just">
              <a:lnSpc>
                <a:spcPts val="4223"/>
              </a:lnSpc>
            </a:pPr>
            <a:r>
              <a:rPr lang="en-US" sz="3017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Route Analysis</a:t>
            </a:r>
          </a:p>
          <a:p>
            <a:pPr algn="just" marL="651382" indent="-325691" lvl="1">
              <a:lnSpc>
                <a:spcPts val="4223"/>
              </a:lnSpc>
              <a:buFont typeface="Arial"/>
              <a:buChar char="•"/>
            </a:pPr>
            <a:r>
              <a:rPr lang="en-US" sz="3017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COUNT()</a:t>
            </a:r>
          </a:p>
          <a:p>
            <a:pPr algn="just" marL="651382" indent="-325691" lvl="1">
              <a:lnSpc>
                <a:spcPts val="4223"/>
              </a:lnSpc>
              <a:buFont typeface="Arial"/>
              <a:buChar char="•"/>
            </a:pPr>
            <a:r>
              <a:rPr lang="en-US" sz="3017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GROUP BY</a:t>
            </a:r>
          </a:p>
          <a:p>
            <a:pPr algn="just">
              <a:lnSpc>
                <a:spcPts val="4223"/>
              </a:lnSpc>
            </a:pPr>
            <a:r>
              <a:rPr lang="en-US" sz="3017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Household Filtering</a:t>
            </a:r>
          </a:p>
          <a:p>
            <a:pPr algn="just" marL="651382" indent="-325691" lvl="1">
              <a:lnSpc>
                <a:spcPts val="4223"/>
              </a:lnSpc>
              <a:buFont typeface="Arial"/>
              <a:buChar char="•"/>
            </a:pPr>
            <a:r>
              <a:rPr lang="en-US" sz="3017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Subquery</a:t>
            </a:r>
          </a:p>
          <a:p>
            <a:pPr algn="just" marL="651382" indent="-325691" lvl="1">
              <a:lnSpc>
                <a:spcPts val="4223"/>
              </a:lnSpc>
              <a:buFont typeface="Arial"/>
              <a:buChar char="•"/>
            </a:pPr>
            <a:r>
              <a:rPr lang="en-US" sz="3017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HAVING COUNT() &gt; 2</a:t>
            </a:r>
          </a:p>
          <a:p>
            <a:pPr algn="just">
              <a:lnSpc>
                <a:spcPts val="4223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721210">
            <a:off x="-2520862" y="-854002"/>
            <a:ext cx="4602723" cy="6328745"/>
          </a:xfrm>
          <a:custGeom>
            <a:avLst/>
            <a:gdLst/>
            <a:ahLst/>
            <a:cxnLst/>
            <a:rect r="r" b="b" t="t" l="l"/>
            <a:pathLst>
              <a:path h="6328745" w="4602723">
                <a:moveTo>
                  <a:pt x="0" y="0"/>
                </a:moveTo>
                <a:lnTo>
                  <a:pt x="4602724" y="0"/>
                </a:lnTo>
                <a:lnTo>
                  <a:pt x="4602724" y="6328745"/>
                </a:lnTo>
                <a:lnTo>
                  <a:pt x="0" y="6328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72374" y="5492461"/>
            <a:ext cx="7046746" cy="5163343"/>
          </a:xfrm>
          <a:custGeom>
            <a:avLst/>
            <a:gdLst/>
            <a:ahLst/>
            <a:cxnLst/>
            <a:rect r="r" b="b" t="t" l="l"/>
            <a:pathLst>
              <a:path h="5163343" w="7046746">
                <a:moveTo>
                  <a:pt x="0" y="0"/>
                </a:moveTo>
                <a:lnTo>
                  <a:pt x="7046747" y="0"/>
                </a:lnTo>
                <a:lnTo>
                  <a:pt x="7046747" y="5163343"/>
                </a:lnTo>
                <a:lnTo>
                  <a:pt x="0" y="5163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81774" y="554012"/>
            <a:ext cx="10227103" cy="1035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</a:pPr>
            <a:r>
              <a:rPr lang="en-US" sz="6099" b="true">
                <a:solidFill>
                  <a:srgbClr val="384700"/>
                </a:solidFill>
                <a:latin typeface="Black Mango Bold"/>
                <a:ea typeface="Black Mango Bold"/>
                <a:cs typeface="Black Mango Bold"/>
                <a:sym typeface="Black Mango Bold"/>
              </a:rPr>
              <a:t>T</a:t>
            </a:r>
            <a:r>
              <a:rPr lang="en-US" b="true" sz="6099">
                <a:solidFill>
                  <a:srgbClr val="384700"/>
                </a:solidFill>
                <a:latin typeface="Black Mango Bold"/>
                <a:ea typeface="Black Mango Bold"/>
                <a:cs typeface="Black Mango Bold"/>
                <a:sym typeface="Black Mango Bold"/>
              </a:rPr>
              <a:t>rigger Implementation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1915984">
            <a:off x="16140697" y="4909760"/>
            <a:ext cx="4602723" cy="6328745"/>
          </a:xfrm>
          <a:custGeom>
            <a:avLst/>
            <a:gdLst/>
            <a:ahLst/>
            <a:cxnLst/>
            <a:rect r="r" b="b" t="t" l="l"/>
            <a:pathLst>
              <a:path h="6328745" w="4602723">
                <a:moveTo>
                  <a:pt x="0" y="0"/>
                </a:moveTo>
                <a:lnTo>
                  <a:pt x="4602724" y="0"/>
                </a:lnTo>
                <a:lnTo>
                  <a:pt x="4602724" y="6328745"/>
                </a:lnTo>
                <a:lnTo>
                  <a:pt x="0" y="6328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1395313" y="-991963"/>
            <a:ext cx="7046746" cy="5163343"/>
          </a:xfrm>
          <a:custGeom>
            <a:avLst/>
            <a:gdLst/>
            <a:ahLst/>
            <a:cxnLst/>
            <a:rect r="r" b="b" t="t" l="l"/>
            <a:pathLst>
              <a:path h="5163343" w="7046746">
                <a:moveTo>
                  <a:pt x="7046746" y="5163343"/>
                </a:moveTo>
                <a:lnTo>
                  <a:pt x="0" y="5163343"/>
                </a:lnTo>
                <a:lnTo>
                  <a:pt x="0" y="0"/>
                </a:lnTo>
                <a:lnTo>
                  <a:pt x="7046746" y="0"/>
                </a:lnTo>
                <a:lnTo>
                  <a:pt x="7046746" y="51633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080289" y="6927039"/>
            <a:ext cx="13066850" cy="3044543"/>
          </a:xfrm>
          <a:custGeom>
            <a:avLst/>
            <a:gdLst/>
            <a:ahLst/>
            <a:cxnLst/>
            <a:rect r="r" b="b" t="t" l="l"/>
            <a:pathLst>
              <a:path h="3044543" w="13066850">
                <a:moveTo>
                  <a:pt x="0" y="0"/>
                </a:moveTo>
                <a:lnTo>
                  <a:pt x="13066849" y="0"/>
                </a:lnTo>
                <a:lnTo>
                  <a:pt x="13066849" y="3044543"/>
                </a:lnTo>
                <a:lnTo>
                  <a:pt x="0" y="30445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926617" y="2253221"/>
            <a:ext cx="10204703" cy="4247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8"/>
              </a:lnSpc>
              <a:spcBef>
                <a:spcPct val="0"/>
              </a:spcBef>
            </a:pPr>
            <a:r>
              <a:rPr lang="en-US" b="true" sz="3020">
                <a:solidFill>
                  <a:srgbClr val="3847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Trigger Logic</a:t>
            </a:r>
          </a:p>
          <a:p>
            <a:pPr algn="l">
              <a:lnSpc>
                <a:spcPts val="4228"/>
              </a:lnSpc>
              <a:spcBef>
                <a:spcPct val="0"/>
              </a:spcBef>
            </a:pPr>
            <a:r>
              <a:rPr lang="en-US" b="true" sz="3020">
                <a:solidFill>
                  <a:srgbClr val="3847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Automatic Next Collection</a:t>
            </a:r>
          </a:p>
          <a:p>
            <a:pPr algn="l" marL="652019" indent="-326009" lvl="1">
              <a:lnSpc>
                <a:spcPts val="4228"/>
              </a:lnSpc>
              <a:buFont typeface="Arial"/>
              <a:buChar char="•"/>
            </a:pPr>
            <a:r>
              <a:rPr lang="en-US" sz="3020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Trigger executes after Status is updated.</a:t>
            </a:r>
          </a:p>
          <a:p>
            <a:pPr algn="l" marL="652019" indent="-326009" lvl="1">
              <a:lnSpc>
                <a:spcPts val="4228"/>
              </a:lnSpc>
              <a:buFont typeface="Arial"/>
              <a:buChar char="•"/>
            </a:pPr>
            <a:r>
              <a:rPr lang="en-US" sz="3020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Activates when status changes to Completed.</a:t>
            </a:r>
          </a:p>
          <a:p>
            <a:pPr algn="l" marL="652019" indent="-326009" lvl="1">
              <a:lnSpc>
                <a:spcPts val="4228"/>
              </a:lnSpc>
              <a:buFont typeface="Arial"/>
              <a:buChar char="•"/>
            </a:pPr>
            <a:r>
              <a:rPr lang="en-US" sz="3020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Creates the next CollectionSchedule automatically.</a:t>
            </a:r>
          </a:p>
          <a:p>
            <a:pPr algn="l" marL="652019" indent="-326009" lvl="1">
              <a:lnSpc>
                <a:spcPts val="4228"/>
              </a:lnSpc>
              <a:buFont typeface="Arial"/>
              <a:buChar char="•"/>
            </a:pPr>
            <a:r>
              <a:rPr lang="en-US" sz="3020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Next collection date = Current Date + 7 days</a:t>
            </a:r>
          </a:p>
          <a:p>
            <a:pPr algn="l" marL="652019" indent="-326009" lvl="1">
              <a:lnSpc>
                <a:spcPts val="4228"/>
              </a:lnSpc>
              <a:buFont typeface="Arial"/>
              <a:buChar char="•"/>
            </a:pPr>
            <a:r>
              <a:rPr lang="en-US" sz="3020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New record gets status Scheduled.</a:t>
            </a:r>
          </a:p>
          <a:p>
            <a:pPr algn="l" marL="652019" indent="-326009" lvl="1">
              <a:lnSpc>
                <a:spcPts val="4228"/>
              </a:lnSpc>
              <a:buFont typeface="Arial"/>
              <a:buChar char="•"/>
            </a:pPr>
            <a:r>
              <a:rPr lang="en-US" sz="3020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CompletedDate is initially NULL.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721210">
            <a:off x="-2520862" y="-854002"/>
            <a:ext cx="4602723" cy="6328745"/>
          </a:xfrm>
          <a:custGeom>
            <a:avLst/>
            <a:gdLst/>
            <a:ahLst/>
            <a:cxnLst/>
            <a:rect r="r" b="b" t="t" l="l"/>
            <a:pathLst>
              <a:path h="6328745" w="4602723">
                <a:moveTo>
                  <a:pt x="0" y="0"/>
                </a:moveTo>
                <a:lnTo>
                  <a:pt x="4602724" y="0"/>
                </a:lnTo>
                <a:lnTo>
                  <a:pt x="4602724" y="6328745"/>
                </a:lnTo>
                <a:lnTo>
                  <a:pt x="0" y="6328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72374" y="5492461"/>
            <a:ext cx="7046746" cy="5163343"/>
          </a:xfrm>
          <a:custGeom>
            <a:avLst/>
            <a:gdLst/>
            <a:ahLst/>
            <a:cxnLst/>
            <a:rect r="r" b="b" t="t" l="l"/>
            <a:pathLst>
              <a:path h="5163343" w="7046746">
                <a:moveTo>
                  <a:pt x="0" y="0"/>
                </a:moveTo>
                <a:lnTo>
                  <a:pt x="7046747" y="0"/>
                </a:lnTo>
                <a:lnTo>
                  <a:pt x="7046747" y="5163343"/>
                </a:lnTo>
                <a:lnTo>
                  <a:pt x="0" y="5163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33877" y="645978"/>
            <a:ext cx="10461524" cy="1307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9"/>
              </a:lnSpc>
            </a:pPr>
            <a:r>
              <a:rPr lang="en-US" sz="7599" b="true">
                <a:solidFill>
                  <a:srgbClr val="384700"/>
                </a:solidFill>
                <a:latin typeface="Black Mango Bold"/>
                <a:ea typeface="Black Mango Bold"/>
                <a:cs typeface="Black Mango Bold"/>
                <a:sym typeface="Black Mango Bold"/>
              </a:rPr>
              <a:t>Results &amp; Analy</a:t>
            </a:r>
            <a:r>
              <a:rPr lang="en-US" b="true" sz="7599">
                <a:solidFill>
                  <a:srgbClr val="384700"/>
                </a:solidFill>
                <a:latin typeface="Black Mango Bold"/>
                <a:ea typeface="Black Mango Bold"/>
                <a:cs typeface="Black Mango Bold"/>
                <a:sym typeface="Black Mango Bold"/>
              </a:rPr>
              <a:t>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79360" y="2819047"/>
            <a:ext cx="12069388" cy="5314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3"/>
              </a:lnSpc>
            </a:pPr>
            <a:r>
              <a:rPr lang="en-US" sz="3017" b="true">
                <a:solidFill>
                  <a:srgbClr val="3847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Results</a:t>
            </a:r>
          </a:p>
          <a:p>
            <a:pPr algn="just">
              <a:lnSpc>
                <a:spcPts val="4223"/>
              </a:lnSpc>
            </a:pPr>
          </a:p>
          <a:p>
            <a:pPr algn="just" marL="651382" indent="-325691" lvl="1">
              <a:lnSpc>
                <a:spcPts val="4223"/>
              </a:lnSpc>
              <a:buFont typeface="Arial"/>
              <a:buChar char="•"/>
            </a:pPr>
            <a:r>
              <a:rPr lang="en-US" sz="3017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Missed collections identified using LEFT JOIN and NULL checks.</a:t>
            </a:r>
          </a:p>
          <a:p>
            <a:pPr algn="just" marL="651382" indent="-325691" lvl="1">
              <a:lnSpc>
                <a:spcPts val="4223"/>
              </a:lnSpc>
              <a:buFont typeface="Arial"/>
              <a:buChar char="•"/>
            </a:pPr>
            <a:r>
              <a:rPr lang="en-US" sz="3017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Route efficiency analyzed using COUNT() and GROUP BY.</a:t>
            </a:r>
          </a:p>
          <a:p>
            <a:pPr algn="just" marL="651382" indent="-325691" lvl="1">
              <a:lnSpc>
                <a:spcPts val="4223"/>
              </a:lnSpc>
              <a:buFont typeface="Arial"/>
              <a:buChar char="•"/>
            </a:pPr>
            <a:r>
              <a:rPr lang="en-US" sz="3017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Households with multiple collections identified using a subquery and HAVING COUNT() &gt; 2.</a:t>
            </a:r>
          </a:p>
          <a:p>
            <a:pPr algn="just" marL="651382" indent="-325691" lvl="1">
              <a:lnSpc>
                <a:spcPts val="4223"/>
              </a:lnSpc>
              <a:buFont typeface="Arial"/>
              <a:buChar char="•"/>
            </a:pPr>
            <a:r>
              <a:rPr lang="en-US" sz="3017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Automatic rescheduling implemented using a trigger.</a:t>
            </a:r>
          </a:p>
          <a:p>
            <a:pPr algn="just" marL="651382" indent="-325691" lvl="1">
              <a:lnSpc>
                <a:spcPts val="4223"/>
              </a:lnSpc>
              <a:buFont typeface="Arial"/>
              <a:buChar char="•"/>
            </a:pPr>
            <a:r>
              <a:rPr lang="en-US" sz="3017">
                <a:solidFill>
                  <a:srgbClr val="384700"/>
                </a:solidFill>
                <a:latin typeface="Open Sans"/>
                <a:ea typeface="Open Sans"/>
                <a:cs typeface="Open Sans"/>
                <a:sym typeface="Open Sans"/>
              </a:rPr>
              <a:t>Next collection is generated 7 days after a collection is marked Completed.</a:t>
            </a:r>
          </a:p>
          <a:p>
            <a:pPr algn="just">
              <a:lnSpc>
                <a:spcPts val="4223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1915984">
            <a:off x="16140697" y="4909760"/>
            <a:ext cx="4602723" cy="6328745"/>
          </a:xfrm>
          <a:custGeom>
            <a:avLst/>
            <a:gdLst/>
            <a:ahLst/>
            <a:cxnLst/>
            <a:rect r="r" b="b" t="t" l="l"/>
            <a:pathLst>
              <a:path h="6328745" w="4602723">
                <a:moveTo>
                  <a:pt x="0" y="0"/>
                </a:moveTo>
                <a:lnTo>
                  <a:pt x="4602724" y="0"/>
                </a:lnTo>
                <a:lnTo>
                  <a:pt x="4602724" y="6328745"/>
                </a:lnTo>
                <a:lnTo>
                  <a:pt x="0" y="6328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1395313" y="-991963"/>
            <a:ext cx="7046746" cy="5163343"/>
          </a:xfrm>
          <a:custGeom>
            <a:avLst/>
            <a:gdLst/>
            <a:ahLst/>
            <a:cxnLst/>
            <a:rect r="r" b="b" t="t" l="l"/>
            <a:pathLst>
              <a:path h="5163343" w="7046746">
                <a:moveTo>
                  <a:pt x="7046746" y="5163343"/>
                </a:moveTo>
                <a:lnTo>
                  <a:pt x="0" y="5163343"/>
                </a:lnTo>
                <a:lnTo>
                  <a:pt x="0" y="0"/>
                </a:lnTo>
                <a:lnTo>
                  <a:pt x="7046746" y="0"/>
                </a:lnTo>
                <a:lnTo>
                  <a:pt x="7046746" y="51633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633877" y="8768704"/>
            <a:ext cx="11637437" cy="781996"/>
            <a:chOff x="0" y="0"/>
            <a:chExt cx="3065004" cy="2059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65004" cy="205958"/>
            </a:xfrm>
            <a:custGeom>
              <a:avLst/>
              <a:gdLst/>
              <a:ahLst/>
              <a:cxnLst/>
              <a:rect r="r" b="b" t="t" l="l"/>
              <a:pathLst>
                <a:path h="205958" w="3065004">
                  <a:moveTo>
                    <a:pt x="0" y="0"/>
                  </a:moveTo>
                  <a:lnTo>
                    <a:pt x="3065004" y="0"/>
                  </a:lnTo>
                  <a:lnTo>
                    <a:pt x="3065004" y="205958"/>
                  </a:lnTo>
                  <a:lnTo>
                    <a:pt x="0" y="205958"/>
                  </a:lnTo>
                  <a:close/>
                </a:path>
              </a:pathLst>
            </a:custGeom>
            <a:solidFill>
              <a:srgbClr val="70794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065004" cy="244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GreenCycle successfully manages household collections, route analysis, missed collections, and automatic rescheduling.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721210">
            <a:off x="-2119311" y="-1380488"/>
            <a:ext cx="5931528" cy="8155851"/>
          </a:xfrm>
          <a:custGeom>
            <a:avLst/>
            <a:gdLst/>
            <a:ahLst/>
            <a:cxnLst/>
            <a:rect r="r" b="b" t="t" l="l"/>
            <a:pathLst>
              <a:path h="8155851" w="5931528">
                <a:moveTo>
                  <a:pt x="0" y="0"/>
                </a:moveTo>
                <a:lnTo>
                  <a:pt x="5931528" y="0"/>
                </a:lnTo>
                <a:lnTo>
                  <a:pt x="5931528" y="8155851"/>
                </a:lnTo>
                <a:lnTo>
                  <a:pt x="0" y="8155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72374" y="3832549"/>
            <a:ext cx="9312135" cy="6823255"/>
          </a:xfrm>
          <a:custGeom>
            <a:avLst/>
            <a:gdLst/>
            <a:ahLst/>
            <a:cxnLst/>
            <a:rect r="r" b="b" t="t" l="l"/>
            <a:pathLst>
              <a:path h="6823255" w="9312135">
                <a:moveTo>
                  <a:pt x="0" y="0"/>
                </a:moveTo>
                <a:lnTo>
                  <a:pt x="9312135" y="0"/>
                </a:lnTo>
                <a:lnTo>
                  <a:pt x="9312135" y="6823255"/>
                </a:lnTo>
                <a:lnTo>
                  <a:pt x="0" y="68232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51514" y="3501890"/>
            <a:ext cx="10584971" cy="242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5"/>
              </a:lnSpc>
            </a:pPr>
            <a:r>
              <a:rPr lang="en-US" sz="14153" b="true">
                <a:solidFill>
                  <a:srgbClr val="384700"/>
                </a:solidFill>
                <a:latin typeface="Black Mango Bold"/>
                <a:ea typeface="Black Mango Bold"/>
                <a:cs typeface="Black Mango Bold"/>
                <a:sym typeface="Black Mango Bold"/>
              </a:rPr>
              <a:t>Thank You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9765837" y="-893225"/>
            <a:ext cx="9312135" cy="6823255"/>
          </a:xfrm>
          <a:custGeom>
            <a:avLst/>
            <a:gdLst/>
            <a:ahLst/>
            <a:cxnLst/>
            <a:rect r="r" b="b" t="t" l="l"/>
            <a:pathLst>
              <a:path h="6823255" w="9312135">
                <a:moveTo>
                  <a:pt x="9312134" y="6823255"/>
                </a:moveTo>
                <a:lnTo>
                  <a:pt x="0" y="6823255"/>
                </a:lnTo>
                <a:lnTo>
                  <a:pt x="0" y="0"/>
                </a:lnTo>
                <a:lnTo>
                  <a:pt x="9312134" y="0"/>
                </a:lnTo>
                <a:lnTo>
                  <a:pt x="9312134" y="682325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00000">
            <a:off x="14891785" y="4078195"/>
            <a:ext cx="5844040" cy="8035555"/>
          </a:xfrm>
          <a:custGeom>
            <a:avLst/>
            <a:gdLst/>
            <a:ahLst/>
            <a:cxnLst/>
            <a:rect r="r" b="b" t="t" l="l"/>
            <a:pathLst>
              <a:path h="8035555" w="5844040">
                <a:moveTo>
                  <a:pt x="0" y="0"/>
                </a:moveTo>
                <a:lnTo>
                  <a:pt x="5844040" y="0"/>
                </a:lnTo>
                <a:lnTo>
                  <a:pt x="5844040" y="8035555"/>
                </a:lnTo>
                <a:lnTo>
                  <a:pt x="0" y="80355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DAHWOc9-iio</dc:identifier>
  <dcterms:modified xsi:type="dcterms:W3CDTF">2011-08-01T06:04:30Z</dcterms:modified>
  <cp:revision>1</cp:revision>
  <dc:title>GreenCycle Community Waste Collection &amp; Recycling Scheduler</dc:title>
</cp:coreProperties>
</file>